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72" autoAdjust="0"/>
  </p:normalViewPr>
  <p:slideViewPr>
    <p:cSldViewPr snapToGrid="0" snapToObjects="1">
      <p:cViewPr varScale="1">
        <p:scale>
          <a:sx n="77" d="100"/>
          <a:sy n="77" d="100"/>
        </p:scale>
        <p:origin x="161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20:26:42.2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 39 0,'110'-27'0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20:26:43.6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20:26:44.5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0,'16'0,"-1"1,1 0,-1 1,26 4,58 15,-49-9,74 16,71 15,643 98,-643-115,-175-22,0 0,23 7,-24-6,39 13,-39-12,0 0,27 6,140 30,-18-4,511 86,-661-121,-8-1,226 35,-168-28,106 5,452-7,-445-8,65-1,86-3,108-5,108-2,74-1,51-2,891-16,3 17,641 74,-1116 35,-26 58,-401-20,-120 0,-129-13,-124-21,-97-22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53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7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5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4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0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9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0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9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84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8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3127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14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3599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77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46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49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3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436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E6C878"/>
                </a:solidFill>
              </a:rPr>
              <a:t>AI Text-to-SQL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2387" y="1917291"/>
            <a:ext cx="7907934" cy="4093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IN" b="1" dirty="0">
              <a:highlight>
                <a:srgbClr val="FFFF00"/>
              </a:highlight>
            </a:endParaRPr>
          </a:p>
          <a:p>
            <a:r>
              <a:rPr lang="it-IT" sz="2800" dirty="0">
                <a:highlight>
                  <a:srgbClr val="00FFFF"/>
                </a:highlight>
              </a:rPr>
              <a:t>Professional demo for database accessibility</a:t>
            </a:r>
          </a:p>
          <a:p>
            <a:endParaRPr lang="it-IT" b="1" dirty="0">
              <a:highlight>
                <a:srgbClr val="FFFF00"/>
              </a:highlight>
            </a:endParaRPr>
          </a:p>
          <a:p>
            <a:endParaRPr lang="it-IT" b="1" dirty="0">
              <a:highlight>
                <a:srgbClr val="FFFF00"/>
              </a:highlight>
            </a:endParaRPr>
          </a:p>
          <a:p>
            <a:endParaRPr lang="en-IN" b="1" dirty="0">
              <a:highlight>
                <a:srgbClr val="FFFF00"/>
              </a:highlight>
            </a:endParaRPr>
          </a:p>
          <a:p>
            <a:r>
              <a:rPr lang="en-US" sz="2800" b="1" dirty="0">
                <a:highlight>
                  <a:srgbClr val="FFFF00"/>
                </a:highlight>
              </a:rPr>
              <a:t>Ratan Raj | AP23110010515</a:t>
            </a:r>
            <a:endParaRPr lang="en-IN" sz="2800" dirty="0">
              <a:highlight>
                <a:srgbClr val="FFFF00"/>
              </a:highlight>
            </a:endParaRPr>
          </a:p>
          <a:p>
            <a:r>
              <a:rPr lang="en-US" sz="2800" b="1" dirty="0">
                <a:highlight>
                  <a:srgbClr val="FFFF00"/>
                </a:highlight>
              </a:rPr>
              <a:t>Ashwin Alle | AP23110010535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Vishnu </a:t>
            </a:r>
            <a:r>
              <a:rPr lang="en-US" sz="2800" b="1" dirty="0" err="1">
                <a:highlight>
                  <a:srgbClr val="FFFF00"/>
                </a:highlight>
              </a:rPr>
              <a:t>Balmuri</a:t>
            </a:r>
            <a:r>
              <a:rPr lang="en-US" sz="2800" b="1" dirty="0">
                <a:highlight>
                  <a:srgbClr val="FFFF00"/>
                </a:highlight>
              </a:rPr>
              <a:t> | AP23110010583</a:t>
            </a:r>
            <a:endParaRPr lang="en-IN" sz="2800" dirty="0">
              <a:highlight>
                <a:srgbClr val="FFFF00"/>
              </a:highlight>
            </a:endParaRPr>
          </a:p>
          <a:p>
            <a:r>
              <a:rPr lang="en-US" sz="2800" b="1" dirty="0">
                <a:highlight>
                  <a:srgbClr val="FFFF00"/>
                </a:highlight>
              </a:rPr>
              <a:t>Venkata Vamsi </a:t>
            </a:r>
            <a:r>
              <a:rPr lang="en-US" sz="2800" b="1" dirty="0" err="1">
                <a:highlight>
                  <a:srgbClr val="FFFF00"/>
                </a:highlight>
              </a:rPr>
              <a:t>Duddukuri</a:t>
            </a:r>
            <a:r>
              <a:rPr lang="en-US" sz="2800" b="1" dirty="0">
                <a:highlight>
                  <a:srgbClr val="FFFF00"/>
                </a:highlight>
              </a:rPr>
              <a:t> | AP23110010580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 Ratan Raj | AP23110010515</a:t>
            </a:r>
            <a:endParaRPr lang="en-IN" sz="2800" dirty="0">
              <a:highlight>
                <a:srgbClr val="FFFF00"/>
              </a:highlight>
            </a:endParaRPr>
          </a:p>
          <a:p>
            <a:pPr>
              <a:defRPr sz="2000">
                <a:solidFill>
                  <a:srgbClr val="DCDCDC"/>
                </a:solidFill>
              </a:defRPr>
            </a:pP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CE6FD38-A7F5-A834-7C80-DCE45BBAA2D7}"/>
                  </a:ext>
                </a:extLst>
              </p14:cNvPr>
              <p14:cNvContentPartPr/>
              <p14:nvPr/>
            </p14:nvContentPartPr>
            <p14:xfrm>
              <a:off x="1110646" y="2743068"/>
              <a:ext cx="39960" cy="10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CE6FD38-A7F5-A834-7C80-DCE45BBAA2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6646" y="2635068"/>
                <a:ext cx="1476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493BE90-46F8-E59F-EF8A-15FBFCE151E4}"/>
                  </a:ext>
                </a:extLst>
              </p14:cNvPr>
              <p14:cNvContentPartPr/>
              <p14:nvPr/>
            </p14:nvContentPartPr>
            <p14:xfrm>
              <a:off x="1150246" y="271354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493BE90-46F8-E59F-EF8A-15FBFCE151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6606" y="260554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C65C17-387E-C12A-EFEA-C41A36809E07}"/>
                  </a:ext>
                </a:extLst>
              </p14:cNvPr>
              <p14:cNvContentPartPr/>
              <p14:nvPr/>
            </p14:nvContentPartPr>
            <p14:xfrm>
              <a:off x="720998" y="1705908"/>
              <a:ext cx="5999614" cy="500591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C65C17-387E-C12A-EFEA-C41A36809E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6999" y="1597944"/>
                <a:ext cx="6107251" cy="71615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1" y="1828800"/>
            <a:ext cx="341179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Modern systems rely on structured relational databases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SQL is powerful but requires technical expertise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Non-technical users struggle with data access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Text-to-SQL bridges gap using natural language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C470A0-B054-FF6E-D935-EAEE3B47C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625" y="323416"/>
            <a:ext cx="4168877" cy="62111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00867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SQL knowledge limited to developers and DBAs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Business users depend on technical teams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Delays in decision making due to bottlenecks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Existing tools lack flexibility for custom queries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0F6425-7C14-B496-605B-58406A598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37" y="1645920"/>
            <a:ext cx="4723428" cy="45314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1570382"/>
            <a:ext cx="705956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Convert natural language into accurate SQL queries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Enable self-service data access for users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Reduce dependency on developers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Provide fast and reliable query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711E3-9707-AD05-9068-325342839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82" y="3230218"/>
            <a:ext cx="7832035" cy="33594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User enters query in plain English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System analyzes intent and schema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LLM generates optimized SQL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Results displayed with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51705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Frontend: Streamlit chat interface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LangChain for orchestration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LLMs: Gemini, Groq, Llama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Database: MySQL / SQLite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2ABCC-69E6-2CA6-E128-811C24427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057" y="1645920"/>
            <a:ext cx="4847304" cy="49859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3921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Python for backend logic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 err="1"/>
              <a:t>Streamlit</a:t>
            </a:r>
            <a:r>
              <a:rPr dirty="0"/>
              <a:t> for UI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 err="1"/>
              <a:t>LangChain</a:t>
            </a:r>
            <a:r>
              <a:rPr dirty="0"/>
              <a:t> for LLM integration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Gemini, </a:t>
            </a:r>
            <a:r>
              <a:rPr dirty="0" err="1"/>
              <a:t>Groq</a:t>
            </a:r>
            <a:r>
              <a:rPr dirty="0"/>
              <a:t>, Llama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3472A-B9EB-64D7-77FA-E6A2DA068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252" y="351995"/>
            <a:ext cx="3490450" cy="61540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Working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6408" y="1828800"/>
            <a:ext cx="2802835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User enters query in natural language </a:t>
            </a:r>
          </a:p>
          <a:p>
            <a:r>
              <a:rPr lang="en-US" dirty="0">
                <a:solidFill>
                  <a:schemeClr val="bg1"/>
                </a:solidFill>
              </a:rPr>
              <a:t>System retrieves schema and understands relationships </a:t>
            </a:r>
          </a:p>
          <a:p>
            <a:r>
              <a:rPr lang="en-US" dirty="0">
                <a:solidFill>
                  <a:schemeClr val="bg1"/>
                </a:solidFill>
              </a:rPr>
              <a:t>Prompt sent to LLM for SQL generation </a:t>
            </a:r>
          </a:p>
          <a:p>
            <a:r>
              <a:rPr lang="en-US" dirty="0">
                <a:solidFill>
                  <a:schemeClr val="bg1"/>
                </a:solidFill>
              </a:rPr>
              <a:t>SQL query generated and executed </a:t>
            </a:r>
          </a:p>
          <a:p>
            <a:r>
              <a:rPr lang="en-US" dirty="0">
                <a:solidFill>
                  <a:schemeClr val="bg1"/>
                </a:solidFill>
              </a:rPr>
              <a:t>Results displayed with explanation 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F6BD8-B28F-0D16-9AAF-80E5D2009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695" y="1313676"/>
            <a:ext cx="5327374" cy="55443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Natural language to SQL conversion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Multi-model support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Context-aware chat interface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Error handling and correction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1BBD5-740B-13B2-D449-868F99D97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6" y="3116826"/>
            <a:ext cx="8229600" cy="37411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Example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4632" y="1828800"/>
            <a:ext cx="203527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Input: Top 5 customers by spending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Generated SQL with joins and aggregation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Output displayed in table format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Explanation in simple language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C1AD7-1C25-F01E-37B6-8EB46A88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444" y="1465759"/>
            <a:ext cx="5594555" cy="50038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1" y="1828800"/>
            <a:ext cx="34117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90%+ accuracy for simple queries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Efficient handling of joins and aggregation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Fast response using </a:t>
            </a:r>
            <a:r>
              <a:rPr dirty="0" err="1"/>
              <a:t>Groq</a:t>
            </a:r>
            <a:r>
              <a:rPr dirty="0"/>
              <a:t> models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Reliable performance on real datasets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46F33-DCD9-CA7F-EEDE-E2DF90B5D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69" y="1555716"/>
            <a:ext cx="4188542" cy="49245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Advantages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5252" y="2574235"/>
            <a:ext cx="323021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Easy for non-technical users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Reduces dependency on developers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Improves productivity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Limitations in complex query generation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CC97B-45A9-D1DB-C08D-8BF82A664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797" y="1649181"/>
            <a:ext cx="4877223" cy="44276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C878"/>
                </a:solidFill>
              </a:rP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3730" y="1411356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Simplifies database access using AI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Enables data-driven decision making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Future: visualization and voice queries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/>
              <a:t>Expand support to more databases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DA7244-DA8D-085F-BBE9-449C104AC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87" y="2792040"/>
            <a:ext cx="8229600" cy="38572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</TotalTime>
  <Words>308</Words>
  <Application>Microsoft Office PowerPoint</Application>
  <PresentationFormat>On-screen Show (4:3)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ratan raj</cp:lastModifiedBy>
  <cp:revision>3</cp:revision>
  <dcterms:created xsi:type="dcterms:W3CDTF">2013-01-27T09:14:16Z</dcterms:created>
  <dcterms:modified xsi:type="dcterms:W3CDTF">2026-04-27T20:56:32Z</dcterms:modified>
  <cp:category/>
</cp:coreProperties>
</file>